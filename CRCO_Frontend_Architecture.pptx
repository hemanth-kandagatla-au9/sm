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n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691640" cy="2999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932688"/>
            <a:ext cx="1874520" cy="0"/>
          </a:xfrm>
          <a:prstGeom prst="line">
            <a:avLst/>
          </a:prstGeom>
          <a:noFill/>
          <a:ln w="25400">
            <a:solidFill>
              <a:srgbClr val="EB17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7614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1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SolMan CR/CO Agent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4015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AI agent's questions become screens — the AG-UI protocol, the component contract, and what happens between a token arriving and a card appearing.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6172200"/>
            <a:ext cx="11277295" cy="0"/>
          </a:xfrm>
          <a:prstGeom prst="line">
            <a:avLst/>
          </a:prstGeom>
          <a:noFill/>
          <a:ln w="9525">
            <a:solidFill>
              <a:srgbClr val="D7DD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309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 ·  NEXT 16  ·  TYPESCRIPT STRICT  ·  AG-UI OVER AWS BEDROCK AGENTCORE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runtime and build time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7295" cy="0"/>
          </a:xfrm>
          <a:prstGeom prst="line">
            <a:avLst/>
          </a:prstGeom>
          <a:noFill/>
          <a:ln w="9525">
            <a:solidFill>
              <a:srgbClr val="B9C1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73272" y="1280160"/>
            <a:ext cx="4645152" cy="2803652"/>
          </a:xfrm>
          <a:prstGeom prst="roundRect">
            <a:avLst>
              <a:gd name="adj" fmla="val 978"/>
            </a:avLst>
          </a:prstGeom>
          <a:solidFill>
            <a:srgbClr val="FFFFFF"/>
          </a:solidFill>
          <a:ln w="9525">
            <a:solidFill>
              <a:srgbClr val="D7DDE6"/>
            </a:solidFill>
            <a:prstDash val="solid"/>
          </a:ln>
        </p:spPr>
      </p:sp>
      <p:pic>
        <p:nvPicPr>
          <p:cNvPr id="7" name="Image 0" descr="run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848" y="1316736"/>
            <a:ext cx="4572000" cy="2730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20388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Runtime, six hops: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agent-ui/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only browser code that understands AG-UI events;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/api/agent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only route allowed to hold the AgentCore runtime ARN and the Azure client secret. The secret stays server-side, the browser has no CORS to exploit, and one egress makes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connect-src 'self'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enforceable.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84552" y="4504436"/>
            <a:ext cx="7022592" cy="1520952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 w="9525">
            <a:solidFill>
              <a:srgbClr val="D7DDE6"/>
            </a:solidFill>
            <a:prstDash val="solid"/>
          </a:ln>
        </p:spPr>
      </p:sp>
      <p:pic>
        <p:nvPicPr>
          <p:cNvPr id="10" name="Image 1" descr="build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28" y="4541012"/>
            <a:ext cx="6949440" cy="1447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6061964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time: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separate mechanism, run before any request above.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ui_contract.py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(backend) is pulled into a committed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ui-contract.json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snapshot, generated into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contract.generated.ts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fixtures.generated.ts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byte-compared on every build — a hand-edit or a stale snapshot fails the build, not a blank card three weeks later.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app does, and why the agent can't ship UI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7295" cy="0"/>
          </a:xfrm>
          <a:prstGeom prst="line">
            <a:avLst/>
          </a:prstGeom>
          <a:noFill/>
          <a:ln w="9525">
            <a:solidFill>
              <a:srgbClr val="B9C1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4100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a change request in SAP Solution Manager means filling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fifteen fields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spread across SolMan, Jira and a set of platform lookups.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Here, an agent asks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at a time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it pulls what it can from Jira, proposes similar past CRs, drafts the request, and submits it after a human approves the draft.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frontend's whole job: turn each question into a screen, and send the answer back.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922776"/>
            <a:ext cx="541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kinds of question ·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turns end to end ·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 endpoint 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/api/agent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The first question is always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crModeChoice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see the eight-component table on the next page.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24448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24448" y="1554480"/>
            <a:ext cx="541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can generate anything — including markup. This app is built so that never matters: the agent can only ever send this,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24448" y="2093976"/>
            <a:ext cx="5410048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2464" y="2176272"/>
            <a:ext cx="515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"version": 1, "name": "crModeChoice", "props": { … } 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24448" y="2596896"/>
            <a:ext cx="5410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and a props object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frontend looks the name up in a fixed map of eight; it cannot send markup, because nothing renders markup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react/no-danger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build error.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agent names a component that doesn't exist, the frontend renders a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fallback card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explaining the problem — never a blank screen, never injected markup.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components, and who owns them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7295" cy="0"/>
          </a:xfrm>
          <a:prstGeom prst="line">
            <a:avLst/>
          </a:prstGeom>
          <a:noFill/>
          <a:ln w="9525">
            <a:solidFill>
              <a:srgbClr val="B9C1CE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16736"/>
          <a:ext cx="6309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8A4B6"/>
                          </a:solidFill>
                        </a:rPr>
                        <a:t>COMPONENT</a:t>
                      </a:r>
                      <a:endParaRPr lang="en-US" sz="9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8A4B6"/>
                          </a:solidFill>
                        </a:rPr>
                        <a:t>SCREEN IT PRODUCES</a:t>
                      </a:r>
                      <a:endParaRPr lang="en-US" sz="9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crModeChoice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vs. bulk change request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crIntakeForm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core CR fields, prefilled where possible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templateOrCrPicker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from a template or a prior 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cycleIdPicker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Choose the release / cycle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draftReview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the drafted request before submit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fieldPrompt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missing field, asked directly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submissionResult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Success, failure, or partial outcome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B1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featureComingSoon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path not yet supported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132320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TEAMS, ONE LINE OF SEPARATION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132320" y="1554480"/>
            <a:ext cx="46021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/ backend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decides and supplies all wording — titles, labels, prompts, error text — and controls which question comes next.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supplies the eight component implementations plus the validation layer, decides layout and interaction, and controls what happens to an unknown or malformed envelope.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132320" y="3511296"/>
            <a:ext cx="4602175" cy="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3648456"/>
            <a:ext cx="46021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 contains no business text.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wrong word on screen is a backend change, not a frontend one — a config or prompt edit ships without a frontend deploy; a layout or new-component change does not.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AG-UI: transport and the request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7295" cy="0"/>
          </a:xfrm>
          <a:prstGeom prst="line">
            <a:avLst/>
          </a:prstGeom>
          <a:noFill/>
          <a:ln w="9525">
            <a:solidFill>
              <a:srgbClr val="B9C1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16736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AG-UI (the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Agent-User Interaction Protocol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an open, event-based protocol maintained by CopilotKit that standardizes how AI agents connect to user-facing applications, over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+ Server-Sent Events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default. The spec defines ~16 event types across 5 categories; this app's graph only ever emits 8 of them.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18541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client: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@ag-ui/client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HttpAgent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 — one instance per thread.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server: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ag-ui-langgraph 0.0.42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wrapping a LangGraph graph, running on AWS Bedrock AgentCore.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8254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— ONE RUNAGENTINPUT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054096"/>
            <a:ext cx="6309360" cy="1691640"/>
          </a:xfrm>
          <a:prstGeom prst="rect">
            <a:avLst/>
          </a:prstGeom>
          <a:solidFill>
            <a:srgbClr val="F4F6F9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136392"/>
            <a:ext cx="60533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/api/agent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"threadId": "t-1764…",  // the conversation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"runId":    "…",        // this one turn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"state": {}, "messages": [],   // both unused here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"tools": [], "context": [],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"forwardedProps": { }   // ← everything bespoke rides here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0" y="28254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SHAPE, THREE JOBS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0" y="3054096"/>
            <a:ext cx="460217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1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forwardedProps: {}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start the conversation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1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forwardedProps.command.resume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answer the open question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1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forwardedProps.lookup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dropdown or Jira lookup, answered as JSON without waking the graph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818888"/>
            <a:ext cx="11277295" cy="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9204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docs.ag-ui.com — Concepts: Events, and the ag-ui-protocol GitHub repository.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response: the SSE stream and the client's handlers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7295" cy="0"/>
          </a:xfrm>
          <a:prstGeom prst="line">
            <a:avLst/>
          </a:prstGeom>
          <a:noFill/>
          <a:ln w="9525">
            <a:solidFill>
              <a:srgbClr val="B9C1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SSE STREAM, SEVEN EVENTS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5212080" cy="1920240"/>
          </a:xfrm>
          <a:prstGeom prst="rect">
            <a:avLst/>
          </a:prstGeom>
          <a:solidFill>
            <a:srgbClr val="F4F6F9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18488"/>
            <a:ext cx="495604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RUN_STARTED          lifecycle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STEP_STARTED         lifecycle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 on_interrupt ← THE CARD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STATE_SNAPSHOT       ← fallback copy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MESSAGES_SNAPSHOT    (empty — no chat)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STEP_FINISHED        lifecycle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RUN_FINISHED         lifecycle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52958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seven carry payload; the rest are bookkeeping. The card arrives inside a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event, not as a run outcome — worth flagging, since a reader of the AG-UI spec's lifecycle events would otherwise expect the other thing.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0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AGENT.SUBSCRIBE({…}) — FIVE HANDLERS, ONE REFUSED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0" y="1536192"/>
            <a:ext cx="5699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onCustomEvent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on_interrupt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the card;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the status line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onTextMessageStart / Content / End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draft, token by token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onStateChanged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merged state; the fallback copy of the card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onRunErrorEvent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surfaces the message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onRunFinishedEvent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does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 the conversation ended; this backend finishes the run and leaves the interrupt pending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3511296"/>
            <a:ext cx="5699455" cy="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584448"/>
            <a:ext cx="569945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Refused: 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onStateDeltaEvent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deliberately unimplemented — reading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agent.state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inside it returns the state from before the patch, which silently dropped the card when the agent sent it as a delta.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onStateChanged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receives state already merged, so there's no patching to redo.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MID-CONVERSATION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Streaming, and resuming a blocked graph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7295" cy="0"/>
          </a:xfrm>
          <a:prstGeom prst="line">
            <a:avLst/>
          </a:prstGeom>
          <a:noFill/>
          <a:ln w="9525">
            <a:solidFill>
              <a:srgbClr val="B9C1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STREAM. THE CARD DOES NOT.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name:"progress"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inside a node: "Fetching Jira ticket AAZM-4668…". Without it, long steps look frozen.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tokens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TEXT_MESSAGE_CONTENT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deltas, appended as they land;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node_6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writes the CR draft with a plain LLM call, so it relays as text.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snapshots and deltas, merged by the client before we ever see them.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099816"/>
            <a:ext cx="630936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3182112"/>
            <a:ext cx="6053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onTextMessageContentEvent({ event }) {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(event.messageId !== streamingMessageId.current) return; // guard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setDraftStream(prev =&gt; (prev ?? "") + event.delta);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itself never streams — it arrives whole, in a single event, after the graph has stopped.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0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RESUMING, ONCE THE CARD IS ON SCREEN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0" y="1554480"/>
            <a:ext cx="46021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parks on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interrupt(envelope)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checkpointed, holding no connection.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answer is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new run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carrying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forwardedProps.command.resume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there's no open socket to write to.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keys the checkpoint on the runtime session id, derived from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padded to 33 characters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because AWS requires that length.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0" y="3584448"/>
            <a:ext cx="4602175" cy="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3657600"/>
            <a:ext cx="46021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detail: 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AG-UI spec also defines a top-level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 on the run input. This backend doesn't read it — accepted silently, graph never wakes. Resuming here always goes through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forwardedProps.command.resume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PAYLOAD, TRACED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journey: agent → validated props → rendered card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7295" cy="0"/>
          </a:xfrm>
          <a:prstGeom prst="line">
            <a:avLst/>
          </a:prstGeom>
          <a:noFill/>
          <a:ln w="9525">
            <a:solidFill>
              <a:srgbClr val="B9C1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16736"/>
            <a:ext cx="11277295" cy="1600200"/>
          </a:xfrm>
          <a:prstGeom prst="rect">
            <a:avLst/>
          </a:prstGeom>
          <a:solidFill>
            <a:srgbClr val="F4F6F9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99032"/>
            <a:ext cx="11021263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agent builds it   { "title": "Create Change Request", "subtitle": "How would you like to proceed?",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"modes": [ {"value":"single","label":"Single CR",…}, {"value":"bulk","label":"Bulk CR",…} ] }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wrapped           { version: 1, name: "crModeChoice", props: ↑ }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encoded           json.dumps(…) → a *string*        ④ on the wire   CUSTOM name:"on_interrupt" value:"{…}"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 unwrapped         unwrapInterruptValue() → object    ⑥ validated     resolveEnvelope() → version? name? props?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⑦ result            { status:"ok", name:"crModeChoice", props: unknown 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035808"/>
            <a:ext cx="11277295" cy="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⑥ is the security boundary: 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checked before name, name checked against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COMPONENT_NAMES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props required to be an object. Anything failing becomes a named error, never a blank screen.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64845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BECOME PIXELS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867912"/>
            <a:ext cx="630936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950208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Card = REGISTRY["crModeChoice"];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props = resolution.props as PropsByName["crModeChoice"];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&lt;Card props={props} respond={respond} pending={true} /&gt;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6542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readable word on the card — title, subtitle, both labels, both descriptions — came from the agent. The frontend supplied the radio, the spacing, and the type.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364845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CAST, ONE LINE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0" y="3867912"/>
            <a:ext cx="46021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crosses the transport as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contract guarantees its shape for a name that passed validation. Everything downstream of that single cast is fully typed.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travels back — precedence and types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7295" cy="0"/>
          </a:xfrm>
          <a:prstGeom prst="line">
            <a:avLst/>
          </a:prstGeom>
          <a:noFill/>
          <a:ln w="9525">
            <a:solidFill>
              <a:srgbClr val="B9C1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RESPOND(VALUE, LABEL) — TWO ARGUMENTS, TWO JOBS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630936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18488"/>
            <a:ext cx="6053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respond("single", "Single Change Request")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 value ┘  └──── label ─────┘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routes      is displayed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routes the graph. It must not be prose — the approval guard is a substring test, so "Submit for Approval" contains no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"I do not approve" contains one.</a:t>
            </a:r>
            <a:endParaRPr lang="en-US" sz="100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what the transcript shows the user; echoing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 would expose routing internals.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218688"/>
            <a:ext cx="6309360" cy="0"/>
          </a:xfrm>
          <a:prstGeom prst="line">
            <a:avLst/>
          </a:prstGeom>
          <a:noFill/>
          <a:ln w="6350">
            <a:solidFill>
              <a:srgbClr val="D7DD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6309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transcript: 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frontend's own record — the agent holds only the latest envelope. Every past turn is re-resolved through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resolveEnvelope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re-rendered 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settled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a refresh restores the full conversation.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0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PRECEDENCE: THE INTERRUPT WINS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32320" y="1536192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channels can each carry the card — the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interrupt and the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STATE_SNAPSHOT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fallback. The interrupt is re-delivered on every reconnect; state deliberately isn't resent. Built the other way round, the card blanks or reverts on reconnect, intermittently.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29169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TYPES COME FROM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0" y="3145536"/>
            <a:ext cx="721309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3145536"/>
            <a:ext cx="6847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ui_contract</a:t>
            </a:r>
            <a:endParaRPr lang="en-US" sz="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908493" y="3145536"/>
            <a:ext cx="72130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6781" y="3145536"/>
            <a:ext cx="6847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</a:t>
            </a:r>
            <a:endParaRPr lang="en-US" sz="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:pull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684666" y="3145536"/>
            <a:ext cx="721309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2954" y="3145536"/>
            <a:ext cx="6847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ui-contract</a:t>
            </a:r>
            <a:endParaRPr lang="en-US" sz="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460840" y="3145536"/>
            <a:ext cx="72130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79128" y="3145536"/>
            <a:ext cx="6847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</a:t>
            </a:r>
            <a:endParaRPr lang="en-US" sz="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:gen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0237013" y="3145536"/>
            <a:ext cx="721309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55301" y="3145536"/>
            <a:ext cx="6847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types+</a:t>
            </a:r>
            <a:endParaRPr lang="en-US" sz="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fixtures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1013186" y="3145536"/>
            <a:ext cx="72130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31474" y="3145536"/>
            <a:ext cx="6847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132320" y="3739896"/>
            <a:ext cx="4602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kinds of drift, three different catchers — see the build-time diagram on the architecture page.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GOES WRONG, AND HOW IT'S SHOWN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handling and the live demo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7295" cy="0"/>
          </a:xfrm>
          <a:prstGeom prst="line">
            <a:avLst/>
          </a:prstGeom>
          <a:noFill/>
          <a:ln w="9525">
            <a:solidFill>
              <a:srgbClr val="B9C1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FAILURE IS A NAMED CASE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resolution states cover every outcome a submission can reach — including success with a null CR id, which renders as a failure rather than a false positive.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85416"/>
            <a:ext cx="630936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854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7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request has not been lost.”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DEV-ONLY ROUTES, TEN MINUTES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0" y="155448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/dev/session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run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show streaming live, then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reconnect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demonstrate the precedence rule.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2185416"/>
            <a:ext cx="1081964" cy="502920"/>
          </a:xfrm>
          <a:prstGeom prst="rect">
            <a:avLst/>
          </a:prstGeom>
          <a:solidFill>
            <a:srgbClr val="F4F6F9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185416"/>
            <a:ext cx="1081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/dev/walkthrough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05724" y="2185416"/>
            <a:ext cx="1081964" cy="502920"/>
          </a:xfrm>
          <a:prstGeom prst="rect">
            <a:avLst/>
          </a:prstGeom>
          <a:solidFill>
            <a:srgbClr val="F4F6F9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5724" y="2185416"/>
            <a:ext cx="1081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/dev/cards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79128" y="2185416"/>
            <a:ext cx="1081964" cy="502920"/>
          </a:xfrm>
          <a:prstGeom prst="rect">
            <a:avLst/>
          </a:prstGeom>
          <a:solidFill>
            <a:srgbClr val="F4F6F9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79128" y="2185416"/>
            <a:ext cx="1081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/dev/session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652531" y="2185416"/>
            <a:ext cx="1081964" cy="502920"/>
          </a:xfrm>
          <a:prstGeom prst="rect">
            <a:avLst/>
          </a:prstGeom>
          <a:solidFill>
            <a:srgbClr val="F4F6F9"/>
          </a:solidFill>
          <a:ln w="6350">
            <a:solidFill>
              <a:srgbClr val="D7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52531" y="2185416"/>
            <a:ext cx="1081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0" y="2825496"/>
            <a:ext cx="4602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404 in a production build.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are, and what we need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7295" cy="0"/>
          </a:xfrm>
          <a:prstGeom prst="line">
            <a:avLst/>
          </a:prstGeom>
          <a:noFill/>
          <a:ln w="9525">
            <a:solidFill>
              <a:srgbClr val="B9C1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167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1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verify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002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</a:t>
            </a:r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002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</a:t>
            </a:r>
            <a:pPr indent="0" marL="0">
              <a:buNone/>
            </a:pPr>
            <a:r>
              <a:rPr lang="en-US" sz="110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1316736"/>
            <a:ext cx="6339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streaming, contract-validation and precedence behavior this deck walks through.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app itself has no login of its own today; it inherits identity from the Azure AD session at the proxy.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–"/>
            </a:pPr>
            <a:r>
              <a:rPr lang="en-US" sz="11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backend asks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5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outstanding items this frontend is blocked 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65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CR/CO FRONTEND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n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463040" cy="25969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914400"/>
            <a:ext cx="1737360" cy="0"/>
          </a:xfrm>
          <a:prstGeom prst="line">
            <a:avLst/>
          </a:prstGeom>
          <a:noFill/>
          <a:ln w="25400">
            <a:solidFill>
              <a:srgbClr val="EB17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737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8A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sentence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streams its intent over AG-UI; </a:t>
            </a:r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EB1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may only name one of eight components; </a:t>
            </a:r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 prop is validated before a single pixel is drawn.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6172200"/>
            <a:ext cx="11277295" cy="0"/>
          </a:xfrm>
          <a:prstGeom prst="line">
            <a:avLst/>
          </a:prstGeom>
          <a:noFill/>
          <a:ln w="9525">
            <a:solidFill>
              <a:srgbClr val="D7DD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309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98A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 ·  NEXT 16  ·  TYPESCRIPT STRICT  ·  AG-UI OVER AWS BEDROCK AGENTCORE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 architecture — SolMan CR/CO Agent</dc:title>
  <dc:subject>PptxGenJS Presentation</dc:subject>
  <dc:creator>Deck plan</dc:creator>
  <cp:lastModifiedBy>Deck plan</cp:lastModifiedBy>
  <cp:revision>1</cp:revision>
  <dcterms:created xsi:type="dcterms:W3CDTF">2026-09-04T06:46:20Z</dcterms:created>
  <dcterms:modified xsi:type="dcterms:W3CDTF">2026-09-04T06:46:20Z</dcterms:modified>
</cp:coreProperties>
</file>